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我们选择的是 Project A，也就是给科研智能体增加一个可验证的功能扩展。,基础 Agent 使用 official DeepScientist，它负责读取论文 PDF、检索相关文献，并生成新的 research idea 或 hypothesis。,我们新增的部分不是另一个聊天模块，而是在 DeepScientist 生成引用支撑的 claim 之后，对这些引用进行独立审计。,最终系统输出 Green、Yellow、Red 三类标签，帮助判断文献是否真实、元数据是否正确，以及文献内容是否真的支持生成的 idea。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老师的补充要求强调，核心是查找生成 idea 所参考文献中的幻觉，并做颜色标注。,这类问题不能只靠肉眼看引用格式，因为很多引用看起来非常专业，甚至 DOI 也可能能解析。,真正的问题在于：它引用的论文是否确实存在，作者、年份、标题是否匹配，以及摘要或证据句是否支持 claim。,所以我们把引用核查拆成三层：existence check、metadata check 和 support check。这样可以避免用一个大模型去“凭感觉”审查另一个大模型。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系统可以走两条路径。,第一条是 official DeepScientist 路径：DeepScientist 生成 idea 和 claim，我们接收 citation_audit_claims.json 后进行审计。,第二条是本地路径：当官方 DeepScientist 运行不稳定时，本地 skill 会读取 PDF、生成 query、检索文献并生成 claim。,无论走哪条路径，后面的 citation audit 都是同一套自实现工具链。,最终每条 claim 都会关联 evidence id、工具调用日志和颜色标签。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这一页主要回应评分标准。,如果只是写 prompt 让 Agent 直接回答，最高只能到 C+；如果只是调用开源工具而没有自己的工具链，也会被限制。,我们这里实现了自己的工具链：PDF 解析、query 生成、文献检索、引用核查、证据链追踪、工具日志和 QQ 命令桥接。,每一步都会写入可检查的文件，例如 tool_calls.jsonl、evidence_items.jsonl、citation_verification.csv 和 evidence_chain.csv。,所以展示时可以直接打开后台文件，而不是只展示 QQ 聊天结果。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 的门槛最高，不是说找到一篇主题相关的文献就能 Green。,必须满足文献存在、元数据匹配、并且能找到具体 supporting sentence。,Yellow 用来处理不确定情况，比如文献存在但摘要不够、只部分支持、版本不清楚或者需要人工看全文。,Red 用于确定错误，比如找不到文献、DOI 指向不同论文、作者明显不匹配，或者证据与 claim 冲突。,我们的原则是保守审计：不确定就 Yellow，不能为了结果好看强行标 Green。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这一页只做简单说明，现场展示时我会直接投屏 QQ 或 WeChat 交互。,展示重点不是“机器人回复了一句话”，而是它能接收 PDF 路径，启动 workflow，持续返回进度，并在完成后给出 run directory 和 Green / Yellow / Red 数量。,然后我会打开对应目录里的 tool_calls.jsonl、citation_verification.csv、evidence_chain.csv 和 final_report.md。,这样可以证明系统真的调用了工具，并且产生了可复现的审计材料。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成功案例选择 CLIP 相关论文，因为它的审计结果比较清楚：6 条 claim 里有 5 条 Green、1 条 Yellow，没有 Red。,代表性 Green 的 claim 是：state-of-the-art computer vision systems are trained to predict a fixed set of predetermined object categories。,系统找到的 cited work 是 CLIP 原论文，arXiv id 和标题都能匹配，并且 supporting sentence 几乎逐字覆盖 claim。,因此这个案例可以展示 Green 的定义：不是只找到论文，而是找到具体支持句。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这个案例是边界案例，不是最简单的假 DOI。,文献 Tests of general relativity with GW150914 是存在的，而且 supporting sentence 里确实提到了 graviton Compton wavelength 和 10 的 13 次方 km。,但是系统检测到 author metadata overlap 不足，同时 claim 的部分关键内容没有被证据完整覆盖。,所以这个例子说明：文献存在并不等于引用正确。,它展示了系统对“真实文献但引用可靠性不足”的细粒度审计能力。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这些数字来自当前三个输出目录的真实文件统计，不是人工编造的展示数字。,总共有 29 个 citation audit CSV、178 条被审查 claim、1219 条工具调用记录和 797 条证据记录。,Green / Yellow / Red 的分布是 57 / 119 / 2。,Yellow 数量明显最多，这说明系统的策略是保守的：只要公开 API 或证据句不能直接支持 claim，就标 Yellow，留给人工复查。,这比把不确定结果都标 Green 更符合科研场景。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最后总结一下，本项目的核心贡献是给 DeepScientist 增加了一个 evidence-control layer。,DeepScientist 负责生成科研 idea，我们的系统负责让 idea 中的引用变得可见、可查、可复现。,我们不是用大模型单独决定引用是否正确，而是用 Crossref、OpenAlex、Semantic Scholar、arXiv 等公开学术 API，加上确定性规则做分层核查。,同时通过 QQ 交互、工具日志、证据链表和多评审报告，满足现场展示和复现要求。,目前的局限是：很多开放 API 只提供摘要，全文证据不足时仍需要人工复查；后续可以增强全文 PDF 检索和段落级 evidence。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3B75"/>
          </a:solidFill>
          <a:ln w="12700">
            <a:solidFill>
              <a:srgbClr val="0B3B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005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项目选择与问题定义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406640" y="15544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Course Project A · DeepScientist Citation Audit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DeepScientist Citation Audit Agent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1155680" cy="0"/>
          </a:xfrm>
          <a:prstGeom prst="line">
            <a:avLst/>
          </a:prstGeom>
          <a:noFill/>
          <a:ln w="17780">
            <a:solidFill>
              <a:srgbClr val="B8C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700784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602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方向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2359152" y="1682496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A 科研智能体功能扩展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868680" y="2231136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2905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基础系统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2359152" y="2212848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official DeepScientist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68680" y="276148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82092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输入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359152" y="2743200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不同学科论文 PDF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68680" y="329184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3512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任务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2359152" y="3273552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hypothesis 后审计引用可靠性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868680" y="382219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88162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输出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2359152" y="3803904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Green / Yellow / Red citation audit report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548640" y="5715000"/>
            <a:ext cx="11064240" cy="475488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3970">
            <a:solidFill>
              <a:srgbClr val="F276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833872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7618"/>
                </a:solidFill>
              </a:rPr>
              <a:t>把生成 idea 中的每条引用变成可检查证据对象。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6FAFF"/>
          </a:solidFill>
          <a:ln w="12700">
            <a:solidFill>
              <a:srgbClr val="B8CCE8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6638544"/>
            <a:ext cx="7772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574"/>
                </a:solidFill>
              </a:rPr>
              <a:t>Artifacts: tool_calls.jsonl · citation_verification.csv · evidence_chain.csv · final_report.md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8412480" y="6638544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5B6574"/>
                </a:solidFill>
              </a:rPr>
              <a:t>DeepScientist Citation Audit Agent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3B75"/>
          </a:solidFill>
          <a:ln w="12700">
            <a:solidFill>
              <a:srgbClr val="0B3B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005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为什么需要这个系统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406640" y="15544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Course Project A · DeepScientist Citation Audit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Citation Hallucination Is Hard To See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1155680" cy="0"/>
          </a:xfrm>
          <a:prstGeom prst="line">
            <a:avLst/>
          </a:prstGeom>
          <a:noFill/>
          <a:ln w="17780">
            <a:solidFill>
              <a:srgbClr val="B8C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700784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602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表面问题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2359152" y="1682496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会给科研 idea 附带看似真实的引用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868680" y="2231136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2905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明显风险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2359152" y="2212848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 DOI、年份错误、作者不匹配、版本混淆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68680" y="276148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82092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隐蔽风险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359152" y="2743200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文献存在，但不支持 claim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68680" y="329184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3512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人工成本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2359152" y="3273552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逐条查引用耗时且难以复现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868680" y="382219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88162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目标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2359152" y="3803904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citation-backed claim 变成可审查对象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548640" y="5715000"/>
            <a:ext cx="11064240" cy="475488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3970">
            <a:solidFill>
              <a:srgbClr val="F276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833872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7618"/>
                </a:solidFill>
              </a:rPr>
              <a:t>不是“用幻觉审核幻觉”，而是用工具和公开 API 做分层核查。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6FAFF"/>
          </a:solidFill>
          <a:ln w="12700">
            <a:solidFill>
              <a:srgbClr val="B8CCE8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6638544"/>
            <a:ext cx="7772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574"/>
                </a:solidFill>
              </a:rPr>
              <a:t>Artifacts: tool_calls.jsonl · citation_verification.csv · evidence_chain.csv · final_report.md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8412480" y="6638544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5B6574"/>
                </a:solidFill>
              </a:rPr>
              <a:t>DeepScientist Citation Audit Agent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3B75"/>
          </a:solidFill>
          <a:ln w="12700">
            <a:solidFill>
              <a:srgbClr val="0B3B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005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系统总流程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406640" y="15544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Course Project A · DeepScientist Citation Audit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-&gt; Claims -&gt; Citation Audit -&gt; R/Y/G Report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1155680" cy="0"/>
          </a:xfrm>
          <a:prstGeom prst="line">
            <a:avLst/>
          </a:prstGeom>
          <a:noFill/>
          <a:ln w="17780">
            <a:solidFill>
              <a:srgbClr val="B8C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00784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EAF3FF"/>
          </a:solidFill>
          <a:ln w="17780">
            <a:solidFill>
              <a:srgbClr val="145A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110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5AA0"/>
                </a:solidFill>
              </a:rPr>
              <a:t>PDF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32888" y="1929384"/>
            <a:ext cx="219456" cy="201168"/>
          </a:xfrm>
          <a:prstGeom prst="chevron">
            <a:avLst/>
          </a:prstGeom>
          <a:solidFill>
            <a:srgbClr val="145AA0"/>
          </a:solidFill>
          <a:ln w="12700">
            <a:solidFill>
              <a:srgbClr val="145A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16352" y="1700784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EAF3FF"/>
          </a:solidFill>
          <a:ln w="17780">
            <a:solidFill>
              <a:srgbClr val="145A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07792" y="19110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5AA0"/>
                </a:solidFill>
              </a:rPr>
              <a:t>DeepScientist / Local Skill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46320" y="1929384"/>
            <a:ext cx="219456" cy="201168"/>
          </a:xfrm>
          <a:prstGeom prst="chevron">
            <a:avLst/>
          </a:prstGeom>
          <a:solidFill>
            <a:srgbClr val="145AA0"/>
          </a:solidFill>
          <a:ln w="12700">
            <a:solidFill>
              <a:srgbClr val="145A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9784" y="1700784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EAF3FF"/>
          </a:solidFill>
          <a:ln w="17780">
            <a:solidFill>
              <a:srgbClr val="145A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1224" y="19110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5AA0"/>
                </a:solidFill>
              </a:rPr>
              <a:t>Claims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59752" y="1929384"/>
            <a:ext cx="219456" cy="201168"/>
          </a:xfrm>
          <a:prstGeom prst="chevron">
            <a:avLst/>
          </a:prstGeom>
          <a:solidFill>
            <a:srgbClr val="145AA0"/>
          </a:solidFill>
          <a:ln w="12700">
            <a:solidFill>
              <a:srgbClr val="145A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43216" y="1700784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7780">
            <a:solidFill>
              <a:srgbClr val="F276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34656" y="19110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7618"/>
                </a:solidFill>
              </a:rPr>
              <a:t>Citation Audit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473184" y="1929384"/>
            <a:ext cx="219456" cy="201168"/>
          </a:xfrm>
          <a:prstGeom prst="chevron">
            <a:avLst/>
          </a:prstGeom>
          <a:solidFill>
            <a:srgbClr val="145AA0"/>
          </a:solidFill>
          <a:ln w="12700">
            <a:solidFill>
              <a:srgbClr val="145A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56648" y="1700784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EAF3FF"/>
          </a:solidFill>
          <a:ln w="17780">
            <a:solidFill>
              <a:srgbClr val="145A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48088" y="19110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5AA0"/>
                </a:solidFill>
              </a:rPr>
              <a:t>R/Y/G Report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2779776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28392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DeepScientist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2404872" y="2761488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hypothesis 和 citation-backed claims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685800" y="3310128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3695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Self-written skill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2404872" y="3291840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生成/整理 claim，调用检索与审计工具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685800" y="3840480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89991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Citation verifier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2404872" y="3822192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 Green / Yellow / Red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685800" y="4370832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4302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Evidence chain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2404872" y="4352544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 evidence id、tool call id、support sentence</a:t>
            </a:r>
            <a:endParaRPr lang="en-US" sz="1320" dirty="0"/>
          </a:p>
        </p:txBody>
      </p:sp>
      <p:sp>
        <p:nvSpPr>
          <p:cNvPr id="34" name="Shape 32"/>
          <p:cNvSpPr/>
          <p:nvPr/>
        </p:nvSpPr>
        <p:spPr>
          <a:xfrm>
            <a:off x="685800" y="4901184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9606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Reviewer + Memory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2404872" y="4882896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辅助解释、评分和复查提示</a:t>
            </a:r>
            <a:endParaRPr lang="en-US" sz="1320" dirty="0"/>
          </a:p>
        </p:txBody>
      </p:sp>
      <p:sp>
        <p:nvSpPr>
          <p:cNvPr id="37" name="Shape 3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6FAFF"/>
          </a:solidFill>
          <a:ln w="12700">
            <a:solidFill>
              <a:srgbClr val="B8CCE8">
                <a:alpha val="6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6638544"/>
            <a:ext cx="7772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574"/>
                </a:solidFill>
              </a:rPr>
              <a:t>Artifacts: tool_calls.jsonl · citation_verification.csv · evidence_chain.csv · final_report.md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8412480" y="6638544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5B6574"/>
                </a:solidFill>
              </a:rPr>
              <a:t>DeepScientist Citation Audit Agent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3B75"/>
          </a:solidFill>
          <a:ln w="12700">
            <a:solidFill>
              <a:srgbClr val="0B3B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005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自实现工具链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406640" y="15544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Course Project A · DeepScientist Citation Audit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Self-Written Tools, Not Prompt-Only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1155680" cy="0"/>
          </a:xfrm>
          <a:prstGeom prst="line">
            <a:avLst/>
          </a:prstGeom>
          <a:noFill/>
          <a:ln w="17780">
            <a:solidFill>
              <a:srgbClr val="B8C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609344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6878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PDF / Claim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2267712" y="1591056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reader 与 claim generator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777240" y="208483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4426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Retrieval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2267712" y="2066544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Crossref、OpenAlex、Semantic Scholar、arXiv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777240" y="256032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61975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Verifier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267712" y="2542032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existence + metadata + support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777240" y="303580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09524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Evidence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2267712" y="3017520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chain tracer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777240" y="3511296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57073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Logging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2267712" y="3493008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tool-call logger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777240" y="3986784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0462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Demo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2267712" y="3968496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QQ command bridge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594360" y="5074920"/>
            <a:ext cx="2619756" cy="411480"/>
          </a:xfrm>
          <a:prstGeom prst="roundRect">
            <a:avLst>
              <a:gd name="adj" fmla="val 13333"/>
            </a:avLst>
          </a:prstGeom>
          <a:solidFill>
            <a:srgbClr val="0B3B75"/>
          </a:solidFill>
          <a:ln w="12700">
            <a:solidFill>
              <a:srgbClr val="0B3B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193792"/>
            <a:ext cx="25283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tool_calls.jsonl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78708" y="5074920"/>
            <a:ext cx="2619756" cy="411480"/>
          </a:xfrm>
          <a:prstGeom prst="roundRect">
            <a:avLst>
              <a:gd name="adj" fmla="val 13333"/>
            </a:avLst>
          </a:prstGeom>
          <a:solidFill>
            <a:srgbClr val="0B3B75"/>
          </a:solidFill>
          <a:ln w="12700">
            <a:solidFill>
              <a:srgbClr val="0B3B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4428" y="5193792"/>
            <a:ext cx="25283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evidence_items.jsonl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63056" y="5074920"/>
            <a:ext cx="2619756" cy="411480"/>
          </a:xfrm>
          <a:prstGeom prst="roundRect">
            <a:avLst>
              <a:gd name="adj" fmla="val 13333"/>
            </a:avLst>
          </a:prstGeom>
          <a:solidFill>
            <a:srgbClr val="0B3B75"/>
          </a:solidFill>
          <a:ln w="12700">
            <a:solidFill>
              <a:srgbClr val="0B3B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8776" y="5193792"/>
            <a:ext cx="25283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citation_verification.csv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947404" y="5074920"/>
            <a:ext cx="2619756" cy="411480"/>
          </a:xfrm>
          <a:prstGeom prst="roundRect">
            <a:avLst>
              <a:gd name="adj" fmla="val 13333"/>
            </a:avLst>
          </a:prstGeom>
          <a:solidFill>
            <a:srgbClr val="0B3B75"/>
          </a:solidFill>
          <a:ln w="12700">
            <a:solidFill>
              <a:srgbClr val="0B3B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93124" y="5193792"/>
            <a:ext cx="25283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evidence_chain.csv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8640" y="5715000"/>
            <a:ext cx="11064240" cy="475488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3970">
            <a:solidFill>
              <a:srgbClr val="F2761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833872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7618"/>
                </a:solidFill>
              </a:rPr>
              <a:t>评分关键：展示工具调用日志、检索结果、核查表，而不是只展示聊天回答。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6FAFF"/>
          </a:solidFill>
          <a:ln w="12700">
            <a:solidFill>
              <a:srgbClr val="B8CCE8">
                <a:alpha val="6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6638544"/>
            <a:ext cx="7772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574"/>
                </a:solidFill>
              </a:rPr>
              <a:t>Artifacts: tool_calls.jsonl · citation_verification.csv · evidence_chain.csv · final_report.md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8412480" y="6638544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5B6574"/>
                </a:solidFill>
              </a:rPr>
              <a:t>DeepScientist Citation Audit Agent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3B75"/>
          </a:solidFill>
          <a:ln w="12700">
            <a:solidFill>
              <a:srgbClr val="0B3B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005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判定标准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406640" y="15544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Course Project A · DeepScientist Citation Audit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Deterministic Citation Scoring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1155680" cy="0"/>
          </a:xfrm>
          <a:prstGeom prst="line">
            <a:avLst/>
          </a:prstGeom>
          <a:noFill/>
          <a:ln w="17780">
            <a:solidFill>
              <a:srgbClr val="B8C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64208"/>
            <a:ext cx="10789920" cy="585216"/>
          </a:xfrm>
          <a:prstGeom prst="roundRect">
            <a:avLst>
              <a:gd name="adj" fmla="val 12500"/>
            </a:avLst>
          </a:prstGeom>
          <a:solidFill>
            <a:srgbClr val="EAF8F0"/>
          </a:solidFill>
          <a:ln w="16510">
            <a:solidFill>
              <a:srgbClr val="168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1051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8A4F"/>
                </a:solidFill>
              </a:rPr>
              <a:t>Green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1810512"/>
            <a:ext cx="8961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033"/>
                </a:solidFill>
              </a:rPr>
              <a:t>文献存在 + 元数据匹配 + 具体 supporting sentence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685800" y="2468880"/>
            <a:ext cx="10789920" cy="585216"/>
          </a:xfrm>
          <a:prstGeom prst="roundRect">
            <a:avLst>
              <a:gd name="adj" fmla="val 12500"/>
            </a:avLst>
          </a:prstGeom>
          <a:solidFill>
            <a:srgbClr val="FFF7D6"/>
          </a:solidFill>
          <a:ln w="16510">
            <a:solidFill>
              <a:srgbClr val="F2A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151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Yellow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2615184"/>
            <a:ext cx="8961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033"/>
                </a:solidFill>
              </a:rPr>
              <a:t>文献存在但支持弱、摘要不足、版本/年份需复查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685800" y="3273552"/>
            <a:ext cx="10789920" cy="585216"/>
          </a:xfrm>
          <a:prstGeom prst="roundRect">
            <a:avLst>
              <a:gd name="adj" fmla="val 12500"/>
            </a:avLst>
          </a:prstGeom>
          <a:solidFill>
            <a:srgbClr val="FDECEC"/>
          </a:solidFill>
          <a:ln w="16510">
            <a:solidFill>
              <a:srgbClr val="D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198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2828"/>
                </a:solidFill>
              </a:rPr>
              <a:t>Red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3419856"/>
            <a:ext cx="8961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033"/>
                </a:solidFill>
              </a:rPr>
              <a:t>文献不存在、元数据明显错、或 claim 与证据冲突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914400" y="4379976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4394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保守原则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2450592" y="4361688"/>
            <a:ext cx="8503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宁可 Yellow，也不强行 Green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4400" y="4855464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9149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边界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2450592" y="4837176"/>
            <a:ext cx="8503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reviewer 不能覆盖最终 R/Y/G 标签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4400" y="5330952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39038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证据要求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2450592" y="5312664"/>
            <a:ext cx="8503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Green 必须有可引用的具体支持句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6FAFF"/>
          </a:solidFill>
          <a:ln w="12700">
            <a:solidFill>
              <a:srgbClr val="B8CCE8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6638544"/>
            <a:ext cx="7772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574"/>
                </a:solidFill>
              </a:rPr>
              <a:t>Artifacts: tool_calls.jsonl · citation_verification.csv · evidence_chain.csv · final_report.md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8412480" y="6638544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5B6574"/>
                </a:solidFill>
              </a:rPr>
              <a:t>DeepScientist Citation Audit Agent</a:t>
            </a:r>
            <a:endParaRPr lang="en-US" sz="7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3B75"/>
          </a:solidFill>
          <a:ln w="12700">
            <a:solidFill>
              <a:srgbClr val="0B3B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005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QQ / WeChat 现场交互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406640" y="15544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Course Project A · DeepScientist Citation Audit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Interaction Layer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1155680" cy="0"/>
          </a:xfrm>
          <a:prstGeom prst="line">
            <a:avLst/>
          </a:prstGeom>
          <a:noFill/>
          <a:ln w="17780">
            <a:solidFill>
              <a:srgbClr val="B8C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60020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/local "C:\\path\\paper.pdf"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88366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本地完整 workflow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43000" y="2286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BF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/official "C:\\path\\paper.pdf"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229514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official DeepScientist + citation audit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3282696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3421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QQ 返回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496312" y="3264408"/>
            <a:ext cx="8823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进度、run directory、G/Y/R 数量、artifact 路径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914400" y="381304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87248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现场展示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2496312" y="3794760"/>
            <a:ext cx="8823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投屏完整交互过程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914400" y="434340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4028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关键文件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2496312" y="4325112"/>
            <a:ext cx="8823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logs、audit CSV、evidence chain、final report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548640" y="5669280"/>
            <a:ext cx="11064240" cy="475488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3970">
            <a:solidFill>
              <a:srgbClr val="145A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788152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AA0"/>
                </a:solidFill>
              </a:rPr>
              <a:t>现场重点：不是聊天结果，而是后台生成的可审计文件。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6FAFF"/>
          </a:solidFill>
          <a:ln w="12700">
            <a:solidFill>
              <a:srgbClr val="B8CCE8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6638544"/>
            <a:ext cx="7772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574"/>
                </a:solidFill>
              </a:rPr>
              <a:t>Artifacts: tool_calls.jsonl · citation_verification.csv · evidence_chain.csv · final_report.md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8412480" y="6638544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5B6574"/>
                </a:solidFill>
              </a:rPr>
              <a:t>DeepScientist Citation Audit Agent</a:t>
            </a:r>
            <a:endParaRPr lang="en-US" sz="7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3B75"/>
          </a:solidFill>
          <a:ln w="12700">
            <a:solidFill>
              <a:srgbClr val="0B3B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005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成功案例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406640" y="15544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Course Project A · DeepScientist Citation Audit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Success Case: CLIP / Visual-Language Transfer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1155680" cy="0"/>
          </a:xfrm>
          <a:prstGeom prst="line">
            <a:avLst/>
          </a:prstGeom>
          <a:noFill/>
          <a:ln w="17780">
            <a:solidFill>
              <a:srgbClr val="B8C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627632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68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8A4F"/>
                </a:solidFill>
              </a:rPr>
              <a:t>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21579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33"/>
                </a:solidFill>
              </a:rPr>
              <a:t>Green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57400" y="1627632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2A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17373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00"/>
                </a:solidFill>
              </a:rPr>
              <a:t>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57400" y="21579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33"/>
                </a:solidFill>
              </a:rPr>
              <a:t>Yellow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1627632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7373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2828"/>
                </a:solidFill>
              </a:rPr>
              <a:t>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337560" y="21579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33"/>
                </a:solidFill>
              </a:rPr>
              <a:t>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2825496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88493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Case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2359152" y="2807208"/>
            <a:ext cx="9098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qq_pdf_ai_clip_transfer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868680" y="331927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37870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Run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2359152" y="3300984"/>
            <a:ext cx="9098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qq_official_20260605_011710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868680" y="381304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87248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Claim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2359152" y="3794760"/>
            <a:ext cx="9098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视觉模型通常训练为预测固定类别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868680" y="4306824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36626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Citation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2359152" y="4288536"/>
            <a:ext cx="9098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Learning Transferable Visual Models From Natural Language Supervision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868680" y="480060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486003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Evidence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2359152" y="4782312"/>
            <a:ext cx="9098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State-of-the-art computer vision systems are trained to predict a fixed set of predetermined object categories.</a:t>
            </a:r>
            <a:endParaRPr lang="en-US" sz="1180" dirty="0"/>
          </a:p>
        </p:txBody>
      </p:sp>
      <p:sp>
        <p:nvSpPr>
          <p:cNvPr id="32" name="Shap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6FAFF"/>
          </a:solidFill>
          <a:ln w="12700">
            <a:solidFill>
              <a:srgbClr val="B8CCE8">
                <a:alpha val="6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6638544"/>
            <a:ext cx="7772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574"/>
                </a:solidFill>
              </a:rPr>
              <a:t>Artifacts: tool_calls.jsonl · citation_verification.csv · evidence_chain.csv · final_report.md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8412480" y="6638544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5B6574"/>
                </a:solidFill>
              </a:rPr>
              <a:t>DeepScientist Citation Audit Agent</a:t>
            </a:r>
            <a:endParaRPr lang="en-US" sz="7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3B75"/>
          </a:solidFill>
          <a:ln w="12700">
            <a:solidFill>
              <a:srgbClr val="0B3B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005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/ 边界案例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406640" y="15544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Course Project A · DeepScientist Citation Audit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Boundary Case: GW150914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1155680" cy="0"/>
          </a:xfrm>
          <a:prstGeom prst="line">
            <a:avLst/>
          </a:prstGeom>
          <a:noFill/>
          <a:ln w="17780">
            <a:solidFill>
              <a:srgbClr val="B8C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627632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68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8A4F"/>
                </a:solidFill>
              </a:rPr>
              <a:t>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21579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33"/>
                </a:solidFill>
              </a:rPr>
              <a:t>Green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57400" y="1627632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2A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17373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00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57400" y="21579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33"/>
                </a:solidFill>
              </a:rPr>
              <a:t>Yellow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1627632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7373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2828"/>
                </a:solidFill>
              </a:rPr>
              <a:t>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337560" y="21579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33"/>
                </a:solidFill>
              </a:rPr>
              <a:t>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2825496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88493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Case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2359152" y="2807208"/>
            <a:ext cx="9098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qq_pdf_physics_gravitational_waves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868680" y="331927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37870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Run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2359152" y="3300984"/>
            <a:ext cx="9098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qq_official_20260605_035133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868680" y="381304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87248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现象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2359152" y="3794760"/>
            <a:ext cx="9098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cited paper exists, but citation reliability is risky</a:t>
            </a:r>
            <a:endParaRPr lang="en-US" sz="1240" dirty="0"/>
          </a:p>
        </p:txBody>
      </p:sp>
      <p:sp>
        <p:nvSpPr>
          <p:cNvPr id="26" name="Shape 24"/>
          <p:cNvSpPr/>
          <p:nvPr/>
        </p:nvSpPr>
        <p:spPr>
          <a:xfrm>
            <a:off x="868680" y="4306824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36626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Red reason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2359152" y="4288536"/>
            <a:ext cx="9098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author metadata mismatch</a:t>
            </a:r>
            <a:endParaRPr lang="en-US" sz="1240" dirty="0"/>
          </a:p>
        </p:txBody>
      </p:sp>
      <p:sp>
        <p:nvSpPr>
          <p:cNvPr id="29" name="Shape 27"/>
          <p:cNvSpPr/>
          <p:nvPr/>
        </p:nvSpPr>
        <p:spPr>
          <a:xfrm>
            <a:off x="868680" y="480060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486003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Why boundary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2359152" y="4782312"/>
            <a:ext cx="9098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supporting sentence partially related, but metadata/support not enough for Green</a:t>
            </a:r>
            <a:endParaRPr lang="en-US" sz="1240" dirty="0"/>
          </a:p>
        </p:txBody>
      </p:sp>
      <p:sp>
        <p:nvSpPr>
          <p:cNvPr id="32" name="Shap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6FAFF"/>
          </a:solidFill>
          <a:ln w="12700">
            <a:solidFill>
              <a:srgbClr val="B8CCE8">
                <a:alpha val="6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6638544"/>
            <a:ext cx="7772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574"/>
                </a:solidFill>
              </a:rPr>
              <a:t>Artifacts: tool_calls.jsonl · citation_verification.csv · evidence_chain.csv · final_report.md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8412480" y="6638544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5B6574"/>
                </a:solidFill>
              </a:rPr>
              <a:t>DeepScientist Citation Audit Agent</a:t>
            </a:r>
            <a:endParaRPr lang="en-US" sz="7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3B75"/>
          </a:solidFill>
          <a:ln w="12700">
            <a:solidFill>
              <a:srgbClr val="0B3B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005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汇总结果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406640" y="15544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Course Project A · DeepScientist Citation Audit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Reproducible Audit Scale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1155680" cy="0"/>
          </a:xfrm>
          <a:prstGeom prst="line">
            <a:avLst/>
          </a:prstGeom>
          <a:noFill/>
          <a:ln w="17780">
            <a:solidFill>
              <a:srgbClr val="B8C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700784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602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统计范围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2359152" y="1682496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deepscientist_15x_campaigns, deepscientist_20x_campaigns, outputs/runs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868680" y="2231136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2905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观察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2359152" y="2212848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Yellow 数量最多，说明审计策略保守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68680" y="276148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82092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意义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359152" y="2743200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系统不是只跑一个 demo，而是保留了可复现 evidence package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6FAFF"/>
          </a:solidFill>
          <a:ln w="12700">
            <a:solidFill>
              <a:srgbClr val="B8CCE8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6638544"/>
            <a:ext cx="7772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574"/>
                </a:solidFill>
              </a:rPr>
              <a:t>Artifacts: tool_calls.jsonl · citation_verification.csv · evidence_chain.csv · final_report.md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8412480" y="6638544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5B6574"/>
                </a:solidFill>
              </a:rPr>
              <a:t>DeepScientist Citation Audit Agent</a:t>
            </a:r>
            <a:endParaRPr lang="en-US" sz="7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3B75"/>
          </a:solidFill>
          <a:ln w="12700">
            <a:solidFill>
              <a:srgbClr val="0B3B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005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总结与答辩要点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406640" y="15544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Course Project A · DeepScientist Citation Audit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Takeaway: Evidence-Control Layer for DeepScientist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1155680" cy="0"/>
          </a:xfrm>
          <a:prstGeom prst="line">
            <a:avLst/>
          </a:prstGeom>
          <a:noFill/>
          <a:ln w="17780">
            <a:solidFill>
              <a:srgbClr val="B8C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700784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602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基础系统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2359152" y="1682496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official DeepScientist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868680" y="2231136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2905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核心扩展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2359152" y="2212848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citation evidence-chain audit module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68680" y="276148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82092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判断依据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359152" y="2743200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public scholarly APIs + deterministic rules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68680" y="329184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3512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可复现证据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2359152" y="3273552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logs、evidence IDs、CSV、final report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868680" y="382219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88162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展示材料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2359152" y="3803904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QQ 交互、成功案例、边界案例、统计报告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868680" y="4352544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41198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5AA0"/>
                </a:solidFill>
              </a:rPr>
              <a:t>局限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2359152" y="4334256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3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摘要不足、API 覆盖有限、全文支持判断仍需增强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548640" y="5715000"/>
            <a:ext cx="11064240" cy="475488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3970">
            <a:solidFill>
              <a:srgbClr val="168A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833872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8A4F"/>
                </a:solidFill>
              </a:rPr>
              <a:t>Citation-backed scientific ideas become visible, checkable, and reproducible.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6FAFF"/>
          </a:solidFill>
          <a:ln w="12700">
            <a:solidFill>
              <a:srgbClr val="B8CCE8">
                <a:alpha val="6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6638544"/>
            <a:ext cx="7772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574"/>
                </a:solidFill>
              </a:rPr>
              <a:t>Artifacts: tool_calls.jsonl · citation_verification.csv · evidence_chain.csv · final_report.md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8412480" y="6638544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5B6574"/>
                </a:solidFill>
              </a:rPr>
              <a:t>DeepScientist Citation Audit Agent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SUSTech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DeepScientist Citation Audit Agent</dc:title>
  <dc:subject>DeepScientist citation hallucination audit</dc:subject>
  <dc:creator>LLM Hypothesis Citation Agent Team</dc:creator>
  <cp:lastModifiedBy>LLM Hypothesis Citation Agent Team</cp:lastModifiedBy>
  <cp:revision>1</cp:revision>
  <dcterms:created xsi:type="dcterms:W3CDTF">2026-06-04T22:22:37Z</dcterms:created>
  <dcterms:modified xsi:type="dcterms:W3CDTF">2026-06-04T22:22:37Z</dcterms:modified>
</cp:coreProperties>
</file>