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ccad8af79247bd" /><Relationship Type="http://schemas.openxmlformats.org/officeDocument/2006/relationships/extended-properties" Target="/docProps/app.xml" Id="R2c9af291836a4c3d" /><Relationship Type="http://schemas.openxmlformats.org/officeDocument/2006/relationships/officeDocument" Target="/ppt/presentation.xml" Id="R675365b44cd74e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25f46ae0584dbc"/>
  </p:sldMasterIdLst>
  <p:notesMasterIdLst>
    <p:notesMasterId xmlns:r="http://schemas.openxmlformats.org/officeDocument/2006/relationships" r:id="R5de0ff0add4b46e6"/>
  </p:notesMasterIdLst>
  <p:sldIdLst>
    <p:sldId xmlns:r="http://schemas.openxmlformats.org/officeDocument/2006/relationships" id="256" r:id="Rba9910f49afc4f13"/>
  </p:sldIdLst>
  <p:sldSz cx="11430000" cy="17145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ff3637b58142d0" /><Relationship Type="http://schemas.openxmlformats.org/officeDocument/2006/relationships/slideMaster" Target="/ppt/slideMasters/slideMaster1.xml" Id="R5925f46ae0584dbc" /><Relationship Type="http://schemas.openxmlformats.org/officeDocument/2006/relationships/notesMaster" Target="/ppt/notesMasters/notesMaster1.xml" Id="R5de0ff0add4b46e6" /><Relationship Type="http://schemas.openxmlformats.org/officeDocument/2006/relationships/presProps" Target="/ppt/presProps.xml" Id="Rce3fae5ab2be40e2" /><Relationship Type="http://schemas.openxmlformats.org/officeDocument/2006/relationships/viewProps" Target="/ppt/viewProps.xml" Id="R16cbe3c8b2e946bc" /><Relationship Type="http://schemas.openxmlformats.org/officeDocument/2006/relationships/tableStyles" Target="/ppt/tableStyles.xml" Id="R7d530e9ca8f044b0" /><Relationship Type="http://schemas.openxmlformats.org/officeDocument/2006/relationships/slide" Target="/ppt/slides/slide1.xml" Id="Rba9910f49afc4f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069ea5d8fe4c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642233d8c486c" /><Relationship Type="http://schemas.openxmlformats.org/officeDocument/2006/relationships/notesMaster" Target="/ppt/notesMasters/notesMaster1.xml" Id="Rc3bbbaa5ce1f4e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e877a5a5445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d2ff3dc0243b5" /><Relationship Type="http://schemas.openxmlformats.org/officeDocument/2006/relationships/slideLayout" Target="/ppt/slideLayouts/slideLayout1.xml" Id="Rd265f8f4b4644d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65f8f4b4644d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80623fec9408b" /><Relationship Type="http://schemas.openxmlformats.org/officeDocument/2006/relationships/image" Target="/ppt/media/image.png" Id="R5a2e39a8a94f469c" /><Relationship Type="http://schemas.openxmlformats.org/officeDocument/2006/relationships/notesSlide" Target="/ppt/notesSlides/notesSlide1.xml" Id="R5a4907c642be44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3F84CD-9FB5-4455-8785-879D8C88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171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2AA7C-F6AA-41D4-9C28-5AE485A1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7A"/>
          </a:solidFill>
          <a:ln xmlns:a="http://schemas.openxmlformats.org/drawingml/2006/main" w="0">
            <a:solidFill>
              <a:srgbClr val="123D7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E5E9C-3729-439B-A96B-F8C06DE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840200"/>
            <a:ext cx="1143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7A"/>
          </a:solidFill>
          <a:ln xmlns:a="http://schemas.openxmlformats.org/drawingml/2006/main" w="0">
            <a:solidFill>
              <a:srgbClr val="123D7A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e39a8a94f469c"/>
          <a:stretch xmlns:a="http://schemas.openxmlformats.org/drawingml/2006/main"/>
        </p:blipFill>
        <p:spPr>
          <a:xfrm xmlns:a="http://schemas.openxmlformats.org/drawingml/2006/main">
            <a:off x="269947" y="190500"/>
            <a:ext cx="2298557" cy="628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97E27-669A-4056-ABDE-59DBBDD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334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1E1E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8B1E1E"/>
                </a:solidFill>
                <a:latin typeface="Georgia"/>
                <a:ea typeface="Georgia"/>
                <a:cs typeface="Georgia"/>
              </a:rPr>
              <a:t>LLM Course Project A · Group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3F000-25EC-4E8E-9701-E31115C6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"/>
            <a:ext cx="514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DeepScientist Citation Audit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840A9-650D-4E9E-A412-3C023E25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66750"/>
            <a:ext cx="601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5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From PDF-based hypothesis generation to deterministic citation hallucination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230A6-E0B3-46D4-8DB7-94ED4544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81075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1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111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Every citation-backed claim becomes a reviewable evidence object.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9F69B-6560-419E-8185-13AF09F1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"/>
            <a:ext cx="4572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F9709-7DBA-49A7-975F-B46888D2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0C5C3-F9D3-4BE4-B199-8A1D28D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FCC03-1443-40E8-80D3-122BA55E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4562F-02BB-4839-89F6-561B29D2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CE888-C27F-4A1E-9187-34D8854E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5B7D3-7BD6-4A41-97AD-A0DA11C2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D5B60-2994-4CE5-B2D7-8ACC3FE4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A3A66-E5CA-4E72-89F8-403E9672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F970E-3F2A-4443-B237-F61755D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180E3-8361-4288-89E6-08945574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63F72-587C-48B1-8E81-223E2A77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3195F-486A-4E1A-8CC4-841C1EFF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C4121-2764-43DB-9B84-EB71EE99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E1D39-5EB4-4B37-8685-B7525BF4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FA68D-1333-4110-A47A-773BDE43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C77EB-A486-4987-8EE1-B0934BD0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9CAA6-9C1F-4FF1-8FE7-5060EE89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19C70-27C3-4975-8FFE-95A02673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47F27-8870-43A3-B1F0-824C535F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D2A45D-795E-4801-8856-25C99602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B70128-2142-4C0D-B7DB-F4C05D0D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4B8382-3ED0-4761-BE02-46C6E90C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00455D-8BBD-4760-8787-88FAC2AD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AD1B13-1C61-40C4-BC47-7173BA5B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E537B6-E49D-40E3-A6B3-4070F09C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910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58AFA1-69AE-481B-8E0C-1A1D944A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910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ACCBBB-187F-48F0-8E24-17CB12D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5294AB-4C79-4ED1-8E91-E451899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BD8B48-5A9A-4F88-B33E-679D3B9E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9DEFFE-C109-4FEB-9A93-BDE244AF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7D7215-A707-43F8-BC8B-E6DA98DD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41910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997D58-F3AB-413E-B652-D1D622D6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B06483-5F32-4E81-B0F6-5790EDF6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47B7C5-7C12-4D2C-A35A-C3F6BCE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3C3CBD-C376-46A8-B93B-25C66E89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4953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9623E7-4FD0-436A-8F74-33E52FF7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90575"/>
            <a:ext cx="419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868D85-79A7-456B-BC02-5A16BD3A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9550"/>
            <a:ext cx="4572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107BBC-E0EB-40E4-9276-36FA20D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C6AC5D-3815-4133-8E9D-267B5B2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013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B91BA6-0118-4EC2-B0FB-08CB55C3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B04C7A-E6BD-4AEE-94F9-E74E8F2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D4F7FA-70BF-4F3F-A1E6-6FE8095B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F95A89-6930-4F8F-8778-2246CF32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566FDB-0794-4F6B-BDAF-FE36B52F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013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B2071A-85BB-4D8B-A86A-A3E3938A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1A386-5DAE-48CA-9351-B5E8544E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B70D21-2FA7-4E42-B1AD-A0C2BB77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D96235-81C4-45F4-8869-E6BABE82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EA346C-817B-4693-9A9A-94C1B656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D88D52-598C-4A7D-94F9-AE124073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1684C6-AE2F-4562-B956-0D81E5A7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A4B6E8-75C1-4901-A7ED-AA596BB8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96C272-42F0-47C0-B901-1C32A541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B71312-B0B5-4160-8698-A5FB14DD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E4ADB0-C2C3-4C09-93FE-EED29304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013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239C8E-14BA-43A8-8E82-AD915124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77CA6D-9DF8-48CB-96B7-6B1EEA3C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E6EBE5-C57C-46E1-B90E-A1E0F18E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9FCDAA-F77C-4760-857B-DA7D0937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8C80BF-F638-414F-8684-F2EF62C1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013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FB56E4-3DDD-432B-A7C1-D3FAA8E4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F75F512-B697-438D-A3BA-0A5F64C2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ADEFAF3-2885-49E6-AABD-77B1DB7E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910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726E50F-31DD-41F9-8FB0-FC5DAAF8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738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C1E6F2-93F7-4B11-87AB-61968311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90BA08E-33C5-4449-ADC6-C725D19F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A80CAB-5094-4B18-9B34-523B743E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112D7F-485D-46FA-B5ED-58DD687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013" y="41910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A690A8-A75A-4DC7-ADDB-A9E2A220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F122E2-DA83-4C79-BFA9-21702BC6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738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F1093D8-7AB6-4164-A68C-A1F0E9F1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471D4C0-CE3A-414F-9CE0-8F2864DF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3900"/>
            <a:ext cx="4953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06BF0B-61F0-4B83-9DD9-73C55066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90575"/>
            <a:ext cx="419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44E26ED-396C-46B9-9B66-44354CFF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9550"/>
            <a:ext cx="4572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DE140C5-BCD7-4364-910E-D7E5039A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ECF3530-6388-4C18-BEA4-075D0C4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02B8234-B297-4DA0-A898-575A7048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EE7E569-C200-49FB-B473-3CA46A53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4E37EC2-4B64-468C-A47E-ACA3D340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39B511A-9C77-48DE-BAA7-2240EE01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8975B8-CA76-410A-9A6F-3703D42E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23F8827-90E5-4D81-A345-1B347E7C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7079EF4-24AA-4E13-ABE9-AE263160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B95713D-1754-461C-AD1D-7450B838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A03ED2D-EF8D-4AD7-9679-CECA7983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24765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8C952FB-DE26-4495-A6A5-02EC0AA3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CB40F17-A956-40B3-92F9-74FE18E6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7A9A316-D6BD-4877-8345-4028C84D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0DBC3A5-AC8B-4593-9FB0-4BE4F21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A19A05-57EE-460E-9B9F-2D2DE733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2CB4F5-0B1F-4C74-BBD5-E3D29E5F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FBE33AD-A08A-4D90-9352-9BF5F374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B34C94-2BEA-43BD-97F0-006B5371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F079725-294C-49EB-845F-F8F7DF78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CA65E34-4F40-4D2A-B583-F5CA7465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BCC585D-105B-4FF2-BAB3-5D361E5A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73BE79D-3126-4664-89D0-8D17478B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E386FBE-826F-42EE-AB6F-388C62E5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3CB460F-905A-414B-AA04-51027FA5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910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0168C5A-4F16-4AF3-8130-A4166571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1910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23EE08F-44F2-4671-AF08-319E2085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4F70F68-FE7A-46FA-A4A2-918EB06C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6138B51-6547-4CCE-AAFB-A68FB5C7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238" y="547688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C280D59-9D24-4B5C-9AFE-6251E6FA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051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EC3BDC9-BF06-4996-9F8B-B536E625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19100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B180F61-2F50-4D27-B57E-3B668606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0482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9D596F9-0A34-44A9-8F8B-259E3273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788" y="333375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FC65466-3B50-43E3-8E04-44A177B3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61963"/>
            <a:ext cx="36195" cy="361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94456AA-FDED-41D3-B175-E937F86C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3900"/>
            <a:ext cx="4953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20242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846A627-52D4-41BD-9C38-6FA01F37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90575"/>
            <a:ext cx="419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5BFAD6E-03C4-4244-9BE8-950F3DA2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581150"/>
            <a:ext cx="110871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8CAE6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386DCAB-F7B3-4043-A852-BA9CEE4A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581150"/>
            <a:ext cx="11087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ABF49F9-4D4A-46FF-8468-7FBAF372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09700"/>
            <a:ext cx="1809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CA8742F-5D71-42EE-8D5F-A930FA13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95425"/>
            <a:ext cx="1809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TL;DR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E638728-3BAB-422D-893E-89385A3D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A49EEB0-D3EF-4649-9221-4A8CD02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4781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Input: teacher-supplied paper PDF from any discipline.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168E1CF-C39D-46B6-A8BB-29BF520B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A41093F-56F7-4196-9186-13E5D25D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65436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DeepScientist proposes hypothesis claims; our skills verify every cited work.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B891F65-359A-45C9-97AE-47E709EA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CFAB3C3-58A9-4F34-B5D3-73C617C6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72104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R/Y/G labels are deterministic and backed by tool logs, evidence IDs, and audit tables.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C7F6960-85CE-42A1-B1B0-206DE44B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8763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AEC88B4-A3AF-4D78-9CC5-9934241E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71675"/>
            <a:ext cx="800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Paper PDF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23BE027-272F-4911-BAF7-570D08F8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70C4DBE-C4B9-4861-8BB4-A9EAD2A1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43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8970E10-675D-4A45-BFC3-C8356FFE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05000"/>
            <a:ext cx="7239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979CC52-2C9E-4777-B94E-52BDE53A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71675"/>
            <a:ext cx="647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Claims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525E72F-7BA1-4480-8F86-18378CAF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002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542762D-FE32-49DA-AB13-CDDE61CC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43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06BD6FE-220B-4AB1-9EAC-E41DFBDF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05000"/>
            <a:ext cx="5524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7B92"/>
          </a:solidFill>
          <a:ln xmlns:a="http://schemas.openxmlformats.org/drawingml/2006/main" w="0">
            <a:solidFill>
              <a:srgbClr val="087B92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819AE6A-1EAE-4EBE-973A-1A3CCD8F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971675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R/Y/G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F104E3B-1C38-4169-BE72-567C858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95525"/>
            <a:ext cx="9525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546F3A3-DF3B-4687-A1A9-4F18676C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tool calls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04E1D6D-34FF-4D2F-BB4A-B7F13B20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95525"/>
            <a:ext cx="10668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8E335D3-2ECD-4D2F-8D11-1F89C905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990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IDs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E15DB59-9228-423C-872C-C1C66C9E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95525"/>
            <a:ext cx="7048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FA9469C-946D-4072-8065-B1B9213B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362200"/>
            <a:ext cx="628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QQ demo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A2F1D94-D1A2-4B81-996A-198E85BD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86100"/>
            <a:ext cx="53340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8CAE6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1CC8C54-AE08-4BE3-A505-09BEF15C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086100"/>
            <a:ext cx="5334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690F045-FB1F-4793-ACB0-6BBCAD58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24765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818931D-2777-4DE4-917D-852FF634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000375"/>
            <a:ext cx="2476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Background &amp; Motivation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54A809D-3DD3-4006-B86C-AC39A892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Citation Hallucination Tax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336F36D-F957-4C6E-BBBB-787FEC85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92CC129-AFAB-40FB-9427-874890BF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3924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Fake DOI / not found -&gt; Red.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9B811C52-9B68-4C14-97C7-6F990FCC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10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F2A900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0448C61-9AFF-4DC7-A951-26741544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3924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 paper but weak support -&gt; Yellow.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D2D7A5B-E514-45FC-A5F9-AA278C66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14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09E2E55-033E-4D39-8618-A8AE9CB6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3924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Strict evidence required before Green.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8A516C1-B062-496C-B6B9-0710EA2B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09550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10478">
            <a:solidFill>
              <a:srgbClr val="D62828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E407234-D3C8-4856-813E-EF2EEBD2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Case A: Fake DOI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5577775-2971-4CC4-9998-2F43F417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71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not found or points elsewhere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0DE091C-4B3E-4A93-954C-D870649F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14900"/>
            <a:ext cx="209550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10478">
            <a:solidFill>
              <a:srgbClr val="F2A900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2B638B3-4075-4F11-B086-C69D94BE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482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Case B: Weak Support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F5005CA-FF1D-4329-99BB-C04C5220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5780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exists but only topic-related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8ABC325-182E-485C-9F0F-517AB8B8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86100"/>
            <a:ext cx="53340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8CAE6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C2C1C99-5AD5-43C2-8BBF-92C2E104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86100"/>
            <a:ext cx="5334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4C20EEE-20D4-4F5C-9B1B-258232ED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3714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A2D4EA2-48BC-40E2-9E8D-4099EDE7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3714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Method: DeepScientist + Audit Skills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0337E55-40B4-49D0-8A7F-BEF801F4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Inserted after hypothesis generation, before final report writing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6809933-6416-4776-B013-7F0BE87C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8572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2458A6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221524C-506E-48E2-910F-095EA13B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Paper PDF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7150B32-A825-407C-AD4B-DBB3C9E9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7048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teacher input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5F4E95B-79F3-4C0A-BCE4-B1E7AD2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A3E95D3-E8B3-43D7-88EC-1AA99F31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38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AE3D244-1577-4EE3-9A30-978EAD1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10000"/>
            <a:ext cx="125730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2458A6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5CC2D74-3B57-4B31-91E6-CA149345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86200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Official DS Quest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39140F5-3BA4-4FE1-AB49-13AC216F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95750"/>
            <a:ext cx="1104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idea stage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7D80E85-A9FB-4100-9C72-29DA0032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84431D1-2CB5-44FE-9751-10CB14F4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38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3AFE4B3-FC1C-4BF2-889C-034DEC31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10000"/>
            <a:ext cx="7810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1FEA834-1101-4CD5-A8A1-529B5EF9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Claims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D638076-8AF3-40D9-9422-1904F74F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95750"/>
            <a:ext cx="628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audit JSON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A2C219B-6F99-4A79-98C8-23A3FFE2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957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EFFF9CB-918B-4ED2-A8BE-F7915C11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38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7DFB8FC-82F7-4CE9-B2A4-73FC04D3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0"/>
            <a:ext cx="5524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11430">
            <a:solidFill>
              <a:srgbClr val="16864B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8A32C78-49C0-4EED-B25A-63A6C666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86200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6864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864B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CB26A21-1CB0-4D28-91DE-08063065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95750"/>
            <a:ext cx="40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R/Y/G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FEB450B-FF51-4D62-BB90-2C52E65A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05350"/>
            <a:ext cx="4686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C7D6EC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807C2D1-6B85-4D47-B1B8-884D9038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76800"/>
            <a:ext cx="12001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43A87F1-C249-44E6-9767-FD7904A7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43475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 Normalizer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61E0B58-D1B8-4E9B-BCBB-66FC3E37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76800"/>
            <a:ext cx="12001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7B92"/>
          </a:solidFill>
          <a:ln xmlns:a="http://schemas.openxmlformats.org/drawingml/2006/main" w="0">
            <a:solidFill>
              <a:srgbClr val="087B92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E07BA9B-C69A-40E7-A5AF-1B2E6978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43475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 Lookup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B9C9313-4BD0-415B-82B9-894DB163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76800"/>
            <a:ext cx="8382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57BB27A-2C62-47C3-A875-0EB3D208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43475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Verifier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4986B23-0A1D-4395-845C-F0EB648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19700"/>
            <a:ext cx="11811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6C8F9D0-365F-421F-927F-BF64F522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86375"/>
            <a:ext cx="1104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Tracer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422F431-5E0D-42FC-B1AB-6575F6AB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10668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E4E98EF-0511-48E9-B7AA-648631A5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86375"/>
            <a:ext cx="990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 Writer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6EB2BC7-A20A-4FEF-9CC5-40C2AEF3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305550"/>
            <a:ext cx="110871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8CAE6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A6A29A7-35A7-441B-BD3C-8F5C1F49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305550"/>
            <a:ext cx="11087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1820946-8944-486E-9FCB-97E1F6BC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34100"/>
            <a:ext cx="22860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7ABA081-21CA-4051-9FF0-ECC50317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19825"/>
            <a:ext cx="228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Citation Audit Engine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A23F13C-0F3D-414B-AC42-23B8FAE6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484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 citation becomes a structured evidence object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55F9E86-AD1A-437A-85D4-4A75D531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19950"/>
            <a:ext cx="8572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4E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767BE19-43C5-4FA0-9172-7FB5B25F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A99114C-BB48-4327-82CC-964F9682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05700"/>
            <a:ext cx="704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claim text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7A841103-8B18-4964-9CCA-16FC401A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5152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A72BFDC-1438-4DBF-AF10-7B7B30A5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7458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8C1C540-5620-47A0-BAB1-A02E0A0A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219950"/>
            <a:ext cx="12001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2458A6"/>
            </a:solidFill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C7B7F7A-E632-4AEE-8356-4E166A8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29615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Cited Work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952EE4F-9D03-4996-B3EF-CA6A43A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505700"/>
            <a:ext cx="1047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title / DOI / year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0A16495-F772-4F70-8FE3-1131B016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152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9791978-D0F4-4FA9-A528-34B844F4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458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6D06D3A-8097-42F4-9374-EC81F082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19950"/>
            <a:ext cx="16192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AFD"/>
          </a:solidFill>
          <a:ln xmlns:a="http://schemas.openxmlformats.org/drawingml/2006/main" w="11430">
            <a:solidFill>
              <a:srgbClr val="087B92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32CDAD1-770A-47C2-AFD7-DCB45BEC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296150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087B92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087B92"/>
                </a:solidFill>
                <a:latin typeface="Aptos"/>
                <a:ea typeface="Aptos"/>
                <a:cs typeface="Aptos"/>
              </a:rPr>
              <a:t>Provider Rows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1117180-031C-48C4-BF5F-FE9F0F00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505700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Crossref / OpenAlex / S2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5E0396E-4F45-40F5-97B5-4136E35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5152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A5AD3DE-DEBA-47E0-A94F-338C38E9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7458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06C1815-2D05-4F81-AA2B-D2681A1A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219950"/>
            <a:ext cx="13335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11430">
            <a:solidFill>
              <a:srgbClr val="16864B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26403CA-B7C8-4FF1-9726-8F2E8B81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296150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6864B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6864B"/>
                </a:solidFill>
                <a:latin typeface="Aptos"/>
                <a:ea typeface="Aptos"/>
                <a:cs typeface="Aptos"/>
              </a:rPr>
              <a:t>Support Text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FD1B952-D5AF-498A-97F4-F8DF5BAB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505700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sentence evidence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CC1FBEA-A6D8-49ED-AA75-6742D9A8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5152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861D666-86F3-4C99-850D-856EE69C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74580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43C417F-0A2D-4EDB-B9A5-3CB72A60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19950"/>
            <a:ext cx="8191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11430">
            <a:solidFill>
              <a:srgbClr val="D62828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B69B88B-5BB4-4468-9FAE-CCBE6E05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2961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R/Y/G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E925F9D-993E-4CB2-9155-5EAA075C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505700"/>
            <a:ext cx="666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0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0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label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3E39B38-9C82-49CF-9A5B-727897AA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53400"/>
            <a:ext cx="30480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10478">
            <a:solidFill>
              <a:srgbClr val="16864B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7768DC03-3813-4E48-8261-56CB81A2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962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E677FE4-1F37-4882-BCAA-F55CBC4A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25817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6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64B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0DE026A-87FA-4281-A98A-84448CD8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2391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exists + metadata + concrete support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D32E759-8079-423E-A6DD-1CB46D08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153400"/>
            <a:ext cx="32004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10478">
            <a:solidFill>
              <a:srgbClr val="F2A900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F22D432-4DA8-4DB5-88D0-630E2492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82962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F2A900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F9E0EA2-2FDE-4B1F-816D-33900805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5817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Yellow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A85BFFC-9174-4858-B19E-A75D2B6F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8239125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exists but weak / version-risk / inconclusive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23242A55-9843-4BC3-85C3-E16880BC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153400"/>
            <a:ext cx="30480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10478">
            <a:solidFill>
              <a:srgbClr val="D62828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758390A-0342-4BBD-B3CA-BA4E4D63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2962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DE84313-7293-49D2-8A1A-A1D02E89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25817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FE6C6A8-A84A-4219-905C-0E8F89D5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23912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not found / metadata conflict / contradiction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814FDDC-4E48-4038-BA4E-2856FAA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96350"/>
            <a:ext cx="485775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10478">
            <a:solidFill>
              <a:srgbClr val="16864B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AB7A627-E052-4B34-AC83-23350DB4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201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16864B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6864B"/>
                </a:solidFill>
                <a:latin typeface="Aptos"/>
                <a:ea typeface="Aptos"/>
                <a:cs typeface="Aptos"/>
              </a:rPr>
              <a:t>Green Gate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06AD7DD-1308-401F-9C86-D9D08ED1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0106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supporting sentence + no missing terms + no contradiction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54D1597-5EFA-4C59-9CAE-267C62E3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896350"/>
            <a:ext cx="485775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10478">
            <a:solidFill>
              <a:srgbClr val="D62828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52AD851-8A1A-4C1F-9B5A-674F3645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902017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Red-Line Gate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BC7F2302-A9F2-421B-AC71-86DF2A58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90106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invalid DOI / metadata conflict / unsupported contradiction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A9B53BE-F349-49FA-96CC-A703A704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10800"/>
            <a:ext cx="5334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8CAE6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AFDA23C-7EDE-4142-8E3E-9F534F8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210800"/>
            <a:ext cx="5334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5207EF3-76CB-456B-B5C7-9098C253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039350"/>
            <a:ext cx="22860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DF87B230-91B1-40C3-B21D-7FAF68AE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125075"/>
            <a:ext cx="2286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 Experiments / Results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F1881BB-C44B-47C1-8B0C-55EE535E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53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Reproducible Audit Snapshot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B87E082D-4F13-4590-8187-096124E6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0"/>
            <a:ext cx="112395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C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789114E-BE1B-475B-B164-99EC9BA4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394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8A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58A6"/>
                </a:solidFill>
                <a:latin typeface="Aptos"/>
                <a:ea typeface="Aptos"/>
                <a:cs typeface="Aptos"/>
              </a:rPr>
              <a:t>116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29628A1-9823-4276-8F74-6D410521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33475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5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audit CSVs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367E63D-852A-4B32-B491-AB134856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953750"/>
            <a:ext cx="125730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C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ADCCCEE-720F-46E1-8EFC-F9E98888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0394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660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9D789A4C-4AD0-4C92-94CC-9143D78F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1334750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5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checked claims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A07BB1A-0702-4C2C-8262-EDB8929E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953750"/>
            <a:ext cx="112395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C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A4FB9EE-7D1D-4CB5-A6ED-AAB03E04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10394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248056E-8866-49E2-982B-D6FC2F8C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133475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5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 labels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EAE2B557-8171-42A0-BBD3-F41EA4C8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Repository-level R/Y/G distribution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79722E0-ABBD-42B3-A4EC-A0B93518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77700"/>
            <a:ext cx="40005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CB59C8F-BD9F-4090-86DF-56EBBDE6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77700"/>
            <a:ext cx="1723107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C09D4C7-D149-480C-AFB5-F42C3C5E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507" y="12077700"/>
            <a:ext cx="17652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F2A900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2A93D9D-C41F-4A87-A989-4D27B424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788" y="12077700"/>
            <a:ext cx="5121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B1831A0-C75A-4678-92AF-7DCA8562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63450"/>
            <a:ext cx="904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6864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864B"/>
                </a:solidFill>
                <a:latin typeface="Aptos"/>
                <a:ea typeface="Aptos"/>
                <a:cs typeface="Aptos"/>
              </a:rPr>
              <a:t>Green 286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161D0DEE-41B6-485C-B76C-D70E1C61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236345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2A90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2A900"/>
                </a:solidFill>
                <a:latin typeface="Aptos"/>
                <a:ea typeface="Aptos"/>
                <a:cs typeface="Aptos"/>
              </a:rPr>
              <a:t>Yellow 293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274408C-14A8-4D4D-A790-F05EBC7C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3634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Red 85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E82E887-C2B8-4CD5-9EBC-A92B1F6B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0"/>
            <a:ext cx="3810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Read from existing citation_verification.csv outputs.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66DC548-33C8-4814-BA21-65CC7BEE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10800"/>
            <a:ext cx="5334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8CAE6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D25247F0-AB32-4D4B-9005-C81A0328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210800"/>
            <a:ext cx="53340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B92"/>
          </a:solidFill>
          <a:ln xmlns:a="http://schemas.openxmlformats.org/drawingml/2006/main" w="0">
            <a:solidFill>
              <a:srgbClr val="087B92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96F65FF-BB03-4437-9A0A-D084D496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039350"/>
            <a:ext cx="34290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087B92"/>
          </a:solidFill>
          <a:ln xmlns:a="http://schemas.openxmlformats.org/drawingml/2006/main" w="0">
            <a:solidFill>
              <a:srgbClr val="087B92"/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9085814-98E9-4FA8-AF89-1274BDA0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125075"/>
            <a:ext cx="342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5. Case Study + Live Quality Control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5426E2F-9C56-4C36-BCBA-5CEE793B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553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Case-level R/Y/G + reviewer panel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66208F5-E1B3-44A0-9E6F-210C6331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9347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CLIP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4DD3C9F-5C1C-43A1-8F4B-B1030A7E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953750"/>
            <a:ext cx="2095500" cy="1619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8F056DE-E380-4B45-8C98-90183CA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953750"/>
            <a:ext cx="1164167" cy="1619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9E3CDBDD-9638-40CF-8604-D3A0FC27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167" y="10953750"/>
            <a:ext cx="232833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F2A900"/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3FE6047-53B4-4566-BE1B-C21B0959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0953750"/>
            <a:ext cx="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A4C9F7F1-D9ED-4623-891A-E2FEC6BE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09347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5/1/0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8DEF21A-F772-4A74-BF88-1D5D5A8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30617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Adam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F279CB06-B956-4C35-917A-F19D2118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325225"/>
            <a:ext cx="2095500" cy="1619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F5F3E2E7-E97B-408A-A92D-202F913C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325225"/>
            <a:ext cx="465667" cy="1619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1C4D55EC-A16D-44D2-BF08-22CB2D26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667" y="11325225"/>
            <a:ext cx="1629833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F2A900"/>
            </a:solidFill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950EA0C-F639-413D-8E58-E40874F0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1325225"/>
            <a:ext cx="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7CF87FC8-2358-48EB-BE60-68D72E2E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13061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2/7/0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F25F977-14E9-41BF-B684-49C374D8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67765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GW150914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9EF07C9-4F87-42C1-814D-30B521D3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696700"/>
            <a:ext cx="2095500" cy="1619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959C64D-E645-46A3-A57E-CE18370C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696700"/>
            <a:ext cx="698500" cy="1619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5A3BA88B-D946-45F6-8845-EB39AB48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11696700"/>
            <a:ext cx="465667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F2A900"/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A22D1B9-02FC-4ED4-9DE4-340BDBB4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167" y="11696700"/>
            <a:ext cx="232833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F3BCC5DB-888B-4354-91A8-02055A6A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16776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3/2/1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A237E2F-DDF3-4BF0-AAE8-2F01B16E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230100"/>
            <a:ext cx="10668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A603306-D60F-4C63-9010-3089CCA6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296775"/>
            <a:ext cx="990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GLM-4 Plus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58F3F66A-4CF6-4FF1-BB44-D96ED407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230100"/>
            <a:ext cx="8953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FD6EEEE-D16C-4DED-9F10-5EAE03A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296775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MiniMax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190862F-7BA3-408E-B223-8C52C13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230100"/>
            <a:ext cx="13144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7B92"/>
          </a:solidFill>
          <a:ln xmlns:a="http://schemas.openxmlformats.org/drawingml/2006/main" w="0">
            <a:solidFill>
              <a:srgbClr val="087B92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D9E6F99E-887E-4C67-94FC-47D184F5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2296775"/>
            <a:ext cx="123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DeepSeek V4 Pro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7DC6D58-EA1E-4285-B0B3-0B43C97D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92050"/>
            <a:ext cx="14287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5D66FE8-D7DD-4733-BE16-BB02866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658725"/>
            <a:ext cx="1352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DeepSeek V4 Flash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094DB872-0A4F-473A-BD0A-BD99B1CA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592050"/>
            <a:ext cx="238125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C7D6EC"/>
            </a:solidFill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6BD4319-8457-42ED-A857-43A7FCEE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696825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4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same rubric: score 1-6, flag citation risk, suggest revise/reject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E169BF2-39C4-4295-B445-E32DE6D5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658850"/>
            <a:ext cx="11087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8CAE6"/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99FC702-849E-491D-8290-836C0C41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658850"/>
            <a:ext cx="110871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B345DD8-F8A8-43BF-BD44-20D39682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487400"/>
            <a:ext cx="26670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1FCF28A-A23D-4259-81D8-D776A570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573125"/>
            <a:ext cx="2667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6. Inspectable Audit Package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C43C04AB-0C0F-4E5C-8AF1-23CBF339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017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complete run is a reproducible evidence bundle, not a chat transcript.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A393B054-3F4C-4940-BC52-734DCBC0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58950"/>
            <a:ext cx="18097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7013E04-CC71-4295-B808-FD146DE2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25625"/>
            <a:ext cx="1733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citation_audit_claims.json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4AEFB17B-DBEB-402A-BFD5-E67930BD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458950"/>
            <a:ext cx="17907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4006020-50D5-48D2-8DB2-4634572A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525625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citation_verification.csv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480C1861-0E95-4225-A8B3-5ABD172F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458950"/>
            <a:ext cx="15240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2458A6"/>
            </a:solidFill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A29BE85B-696F-4CCA-AA98-00DC2DCD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25625"/>
            <a:ext cx="1447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evidence_chain.csv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C307913-471E-46AB-BC3E-DD5D7C45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458950"/>
            <a:ext cx="13335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7B92"/>
          </a:solidFill>
          <a:ln xmlns:a="http://schemas.openxmlformats.org/drawingml/2006/main" w="0">
            <a:solidFill>
              <a:srgbClr val="087B92"/>
            </a:solidFill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5B1043E-6D32-4948-9483-AE88ADA1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525625"/>
            <a:ext cx="1257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tool_calls.jsonl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CBD28070-7F7F-436F-8886-47B44C03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458950"/>
            <a:ext cx="15430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F2A900"/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FB9CE4D2-CF7E-472B-B0FC-4551B1DC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525625"/>
            <a:ext cx="1466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evidence_items.jsonl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472558E8-D00F-48D8-BDCE-44E964BC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458950"/>
            <a:ext cx="16192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FE43008-111A-4022-A510-6B58D8D8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525625"/>
            <a:ext cx="1543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multi_review_report.md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05692E8-738E-426E-8773-303940FE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35200"/>
            <a:ext cx="49720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4CF22A57-2714-4A0E-8EF3-09839D73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01875"/>
            <a:ext cx="4591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/official "C:\path\paper.pdf"     /local "C:\path\paper.pdf"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CE990B7-9F05-4B9D-A6BA-7D276799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25675"/>
            <a:ext cx="13144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7B92"/>
          </a:solidFill>
          <a:ln xmlns:a="http://schemas.openxmlformats.org/drawingml/2006/main" w="0">
            <a:solidFill>
              <a:srgbClr val="087B92"/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26510C06-3463-4CA6-BF6A-3D8148F2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92350"/>
            <a:ext cx="1238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stage heartbeat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D8FA5CF-84F2-4891-B340-19C8E4D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925675"/>
            <a:ext cx="12001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6864B"/>
          </a:solidFill>
          <a:ln xmlns:a="http://schemas.openxmlformats.org/drawingml/2006/main" w="0">
            <a:solidFill>
              <a:srgbClr val="16864B"/>
            </a:solidFill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37B47E46-89ED-4AC4-B2AC-E2595771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9923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DONE summary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C7597B2B-8978-48A7-863F-9DBED3FF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925675"/>
            <a:ext cx="120015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4416EA4-795C-42AE-9C4B-1930AEBF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9923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failure visible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D62909A-CC12-4783-8229-7700D5EA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5735300"/>
            <a:ext cx="11087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3335">
            <a:solidFill>
              <a:srgbClr val="5274AD"/>
            </a:solidFill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8A34098-D71B-4BF4-9DE2-8BC8BBCA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44850"/>
            <a:ext cx="1000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9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9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Takeaway: this project adds an evidence-control layer to DeepScientist, making citation hallucination visible, checkable, reproducible, and demo-ready.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932905B-1E63-4F8A-8475-4CC976C3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878300"/>
            <a:ext cx="3810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 / Report / Demo via QR · Results read from repository outputs</a:t>
            </a:r>
          </a:p>
        </p:txBody>
      </p:sp>
    </p:spTree>
    <p:extLst>
      <p:ext uri="{BB962C8B-B14F-4D97-AF65-F5344CB8AC3E}">
        <p14:creationId xmlns:p14="http://schemas.microsoft.com/office/powerpoint/2010/main" val="1136032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2026-06-04T20:19:05.7920000Z</dcterms:created>
  <dcterms:modified xsi:type="dcterms:W3CDTF">2026-06-04T20:19:05.7930000Z</dcterms:modified>
</coreProperties>
</file>